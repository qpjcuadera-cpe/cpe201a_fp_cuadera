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Lst>
  <p:sldSz cy="5143500" cx="9144000"/>
  <p:notesSz cx="6858000" cy="9144000"/>
  <p:embeddedFontLst>
    <p:embeddedFont>
      <p:font typeface="Arial Narrow"/>
      <p:regular r:id="rId13"/>
      <p:bold r:id="rId14"/>
      <p:italic r:id="rId15"/>
      <p:boldItalic r:id="rId16"/>
    </p:embeddedFont>
    <p:embeddedFont>
      <p:font typeface="Helvetica Neue"/>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1" roundtripDataSignature="AMtx7migpl9P4jWk3yp3zGB+IPdd59DgA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A64FA60-4A03-469C-B0CF-5974C65BDF78}">
  <a:tblStyle styleId="{DA64FA60-4A03-469C-B0CF-5974C65BDF78}"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HelveticaNeue-boldItalic.fntdata"/><Relationship Id="rId11" Type="http://schemas.openxmlformats.org/officeDocument/2006/relationships/slide" Target="slides/slide5.xml"/><Relationship Id="rId10" Type="http://schemas.openxmlformats.org/officeDocument/2006/relationships/slide" Target="slides/slide4.xml"/><Relationship Id="rId21" Type="http://customschemas.google.com/relationships/presentationmetadata" Target="metadata"/><Relationship Id="rId13" Type="http://schemas.openxmlformats.org/officeDocument/2006/relationships/font" Target="fonts/ArialNarrow-regular.fntdata"/><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font" Target="fonts/ArialNarrow-italic.fntdata"/><Relationship Id="rId14" Type="http://schemas.openxmlformats.org/officeDocument/2006/relationships/font" Target="fonts/ArialNarrow-bold.fntdata"/><Relationship Id="rId17" Type="http://schemas.openxmlformats.org/officeDocument/2006/relationships/font" Target="fonts/HelveticaNeue-regular.fntdata"/><Relationship Id="rId16" Type="http://schemas.openxmlformats.org/officeDocument/2006/relationships/font" Target="fonts/ArialNarrow-boldItalic.fntdata"/><Relationship Id="rId5" Type="http://schemas.openxmlformats.org/officeDocument/2006/relationships/slideMaster" Target="slideMasters/slideMaster1.xml"/><Relationship Id="rId19" Type="http://schemas.openxmlformats.org/officeDocument/2006/relationships/font" Target="fonts/HelveticaNeue-italic.fntdata"/><Relationship Id="rId6" Type="http://schemas.openxmlformats.org/officeDocument/2006/relationships/notesMaster" Target="notesMasters/notesMaster1.xml"/><Relationship Id="rId18" Type="http://schemas.openxmlformats.org/officeDocument/2006/relationships/font" Target="fonts/HelveticaNeue-bold.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 name="Google Shape;6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If the client is already finalized, remove the word (prospective).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547c1293c7_4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 name="Google Shape;76;g3547c1293c7_4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 name="Google Shape;9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Show pictures of the solutions only, slight text if the product/solution has a name.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981e110b5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g3981e110b5c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1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1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1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14"/>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14"/>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16"/>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16"/>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1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18"/>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8"/>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18"/>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18"/>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9"/>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20"/>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20"/>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14.png"/><Relationship Id="rId7" Type="http://schemas.openxmlformats.org/officeDocument/2006/relationships/image" Target="../media/image7.png"/><Relationship Id="rId8" Type="http://schemas.openxmlformats.org/officeDocument/2006/relationships/image" Target="../media/image1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5.png"/><Relationship Id="rId10" Type="http://schemas.openxmlformats.org/officeDocument/2006/relationships/image" Target="../media/image9.png"/><Relationship Id="rId9" Type="http://schemas.openxmlformats.org/officeDocument/2006/relationships/image" Target="../media/image6.png"/><Relationship Id="rId5" Type="http://schemas.openxmlformats.org/officeDocument/2006/relationships/image" Target="../media/image12.png"/><Relationship Id="rId6" Type="http://schemas.openxmlformats.org/officeDocument/2006/relationships/image" Target="../media/image8.png"/><Relationship Id="rId7" Type="http://schemas.openxmlformats.org/officeDocument/2006/relationships/image" Target="../media/image11.png"/><Relationship Id="rId8"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graphicFrame>
        <p:nvGraphicFramePr>
          <p:cNvPr id="54" name="Google Shape;54;p1"/>
          <p:cNvGraphicFramePr/>
          <p:nvPr/>
        </p:nvGraphicFramePr>
        <p:xfrm>
          <a:off x="311675" y="1766425"/>
          <a:ext cx="3000000" cy="3000000"/>
        </p:xfrm>
        <a:graphic>
          <a:graphicData uri="http://schemas.openxmlformats.org/drawingml/2006/table">
            <a:tbl>
              <a:tblPr>
                <a:noFill/>
                <a:tableStyleId>{DA64FA60-4A03-469C-B0CF-5974C65BDF78}</a:tableStyleId>
              </a:tblPr>
              <a:tblGrid>
                <a:gridCol w="2170575"/>
                <a:gridCol w="2170575"/>
                <a:gridCol w="2170575"/>
                <a:gridCol w="2170575"/>
              </a:tblGrid>
              <a:tr h="16248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682775">
                <a:tc>
                  <a:txBody>
                    <a:bodyPr/>
                    <a:lstStyle/>
                    <a:p>
                      <a:pPr indent="0" lvl="0" marL="0" marR="0" rtl="0" algn="ctr">
                        <a:lnSpc>
                          <a:spcPct val="100000"/>
                        </a:lnSpc>
                        <a:spcBef>
                          <a:spcPts val="0"/>
                        </a:spcBef>
                        <a:spcAft>
                          <a:spcPts val="0"/>
                        </a:spcAft>
                        <a:buClr>
                          <a:srgbClr val="000000"/>
                        </a:buClr>
                        <a:buSzPts val="1400"/>
                        <a:buFont typeface="Arial"/>
                        <a:buNone/>
                      </a:pPr>
                      <a:r>
                        <a:rPr b="1" lang="en"/>
                        <a:t>Cosme</a:t>
                      </a:r>
                      <a:br>
                        <a:rPr b="1" lang="en"/>
                      </a:br>
                      <a:r>
                        <a:rPr b="1" lang="en"/>
                        <a:t>Jan Yvan</a:t>
                      </a:r>
                      <a:endParaRPr sz="1400" u="none" cap="none" strike="noStrike"/>
                    </a:p>
                    <a:p>
                      <a:pPr indent="0" lvl="0" marL="0" marR="0" rtl="0" algn="ctr">
                        <a:lnSpc>
                          <a:spcPct val="100000"/>
                        </a:lnSpc>
                        <a:spcBef>
                          <a:spcPts val="0"/>
                        </a:spcBef>
                        <a:spcAft>
                          <a:spcPts val="0"/>
                        </a:spcAft>
                        <a:buClr>
                          <a:srgbClr val="000000"/>
                        </a:buClr>
                        <a:buSzPts val="1000"/>
                        <a:buFont typeface="Arial"/>
                        <a:buNone/>
                      </a:pPr>
                      <a:r>
                        <a:t/>
                      </a:r>
                      <a:endParaRPr i="1" sz="10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b="1" lang="en">
                          <a:solidFill>
                            <a:schemeClr val="dk1"/>
                          </a:solidFill>
                        </a:rPr>
                        <a:t>Cuadera</a:t>
                      </a:r>
                      <a:br>
                        <a:rPr b="1" lang="en">
                          <a:solidFill>
                            <a:schemeClr val="dk1"/>
                          </a:solidFill>
                        </a:rPr>
                      </a:br>
                      <a:r>
                        <a:rPr b="1" lang="en">
                          <a:solidFill>
                            <a:schemeClr val="dk1"/>
                          </a:solidFill>
                        </a:rPr>
                        <a:t>Paulie Jai</a:t>
                      </a:r>
                      <a:endParaRPr sz="1400" u="none" cap="none" strike="noStrike">
                        <a:solidFill>
                          <a:schemeClr val="dk1"/>
                        </a:solidFill>
                      </a:endParaRPr>
                    </a:p>
                    <a:p>
                      <a:pPr indent="0" lvl="0" marL="0" marR="0" rtl="0" algn="ctr">
                        <a:lnSpc>
                          <a:spcPct val="100000"/>
                        </a:lnSpc>
                        <a:spcBef>
                          <a:spcPts val="0"/>
                        </a:spcBef>
                        <a:spcAft>
                          <a:spcPts val="0"/>
                        </a:spcAft>
                        <a:buClr>
                          <a:srgbClr val="000000"/>
                        </a:buClr>
                        <a:buSzPts val="1000"/>
                        <a:buFont typeface="Arial"/>
                        <a:buNone/>
                      </a:pPr>
                      <a:r>
                        <a:t/>
                      </a:r>
                      <a:endParaRPr sz="14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b="1" lang="en">
                          <a:solidFill>
                            <a:schemeClr val="dk1"/>
                          </a:solidFill>
                        </a:rPr>
                        <a:t> Lorzano </a:t>
                      </a:r>
                      <a:endParaRPr b="1">
                        <a:solidFill>
                          <a:schemeClr val="dk1"/>
                        </a:solidFill>
                      </a:endParaRPr>
                    </a:p>
                    <a:p>
                      <a:pPr indent="0" lvl="0" marL="0" marR="0" rtl="0" algn="ctr">
                        <a:lnSpc>
                          <a:spcPct val="100000"/>
                        </a:lnSpc>
                        <a:spcBef>
                          <a:spcPts val="0"/>
                        </a:spcBef>
                        <a:spcAft>
                          <a:spcPts val="0"/>
                        </a:spcAft>
                        <a:buClr>
                          <a:schemeClr val="dk1"/>
                        </a:buClr>
                        <a:buSzPts val="1100"/>
                        <a:buFont typeface="Arial"/>
                        <a:buNone/>
                      </a:pPr>
                      <a:r>
                        <a:rPr b="1" lang="en">
                          <a:solidFill>
                            <a:schemeClr val="dk1"/>
                          </a:solidFill>
                        </a:rPr>
                        <a:t>Frank</a:t>
                      </a:r>
                      <a:endParaRPr b="1">
                        <a:solidFill>
                          <a:schemeClr val="dk1"/>
                        </a:solidFill>
                      </a:endParaRPr>
                    </a:p>
                    <a:p>
                      <a:pPr indent="0" lvl="0" marL="0" marR="0" rtl="0" algn="ctr">
                        <a:lnSpc>
                          <a:spcPct val="100000"/>
                        </a:lnSpc>
                        <a:spcBef>
                          <a:spcPts val="0"/>
                        </a:spcBef>
                        <a:spcAft>
                          <a:spcPts val="0"/>
                        </a:spcAft>
                        <a:buClr>
                          <a:srgbClr val="000000"/>
                        </a:buClr>
                        <a:buSzPts val="1000"/>
                        <a:buFont typeface="Arial"/>
                        <a:buNone/>
                      </a:pPr>
                      <a:r>
                        <a:t/>
                      </a:r>
                      <a:endParaRPr sz="14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b="1" lang="en">
                          <a:solidFill>
                            <a:schemeClr val="dk1"/>
                          </a:solidFill>
                        </a:rPr>
                        <a:t>Bautista</a:t>
                      </a:r>
                      <a:endParaRPr b="1" sz="1400" u="none" cap="none" strike="noStrike">
                        <a:solidFill>
                          <a:schemeClr val="dk1"/>
                        </a:solidFill>
                      </a:endParaRPr>
                    </a:p>
                    <a:p>
                      <a:pPr indent="0" lvl="0" marL="0" marR="0" rtl="0" algn="ctr">
                        <a:lnSpc>
                          <a:spcPct val="100000"/>
                        </a:lnSpc>
                        <a:spcBef>
                          <a:spcPts val="0"/>
                        </a:spcBef>
                        <a:spcAft>
                          <a:spcPts val="0"/>
                        </a:spcAft>
                        <a:buClr>
                          <a:schemeClr val="dk1"/>
                        </a:buClr>
                        <a:buSzPts val="1100"/>
                        <a:buFont typeface="Arial"/>
                        <a:buNone/>
                      </a:pPr>
                      <a:r>
                        <a:rPr b="1" lang="en">
                          <a:solidFill>
                            <a:schemeClr val="dk1"/>
                          </a:solidFill>
                        </a:rPr>
                        <a:t>Chandler V</a:t>
                      </a:r>
                      <a:endParaRPr b="1" sz="1400" u="none" cap="none" strike="noStrike">
                        <a:solidFill>
                          <a:schemeClr val="dk1"/>
                        </a:solidFill>
                      </a:endParaRPr>
                    </a:p>
                    <a:p>
                      <a:pPr indent="0" lvl="0" marL="0" marR="0" rtl="0" algn="ctr">
                        <a:lnSpc>
                          <a:spcPct val="100000"/>
                        </a:lnSpc>
                        <a:spcBef>
                          <a:spcPts val="0"/>
                        </a:spcBef>
                        <a:spcAft>
                          <a:spcPts val="0"/>
                        </a:spcAft>
                        <a:buClr>
                          <a:srgbClr val="000000"/>
                        </a:buClr>
                        <a:buSzPts val="1000"/>
                        <a:buFont typeface="Arial"/>
                        <a:buNone/>
                      </a:pPr>
                      <a:r>
                        <a:t/>
                      </a:r>
                      <a:endParaRPr sz="14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pic>
        <p:nvPicPr>
          <p:cNvPr id="55" name="Google Shape;55;p1"/>
          <p:cNvPicPr preferRelativeResize="0"/>
          <p:nvPr/>
        </p:nvPicPr>
        <p:blipFill rotWithShape="1">
          <a:blip r:embed="rId3">
            <a:alphaModFix/>
          </a:blip>
          <a:srcRect b="0" l="0" r="0" t="0"/>
          <a:stretch/>
        </p:blipFill>
        <p:spPr>
          <a:xfrm>
            <a:off x="713775" y="1855175"/>
            <a:ext cx="1433975" cy="1433974"/>
          </a:xfrm>
          <a:prstGeom prst="rect">
            <a:avLst/>
          </a:prstGeom>
          <a:noFill/>
          <a:ln>
            <a:noFill/>
          </a:ln>
        </p:spPr>
      </p:pic>
      <p:pic>
        <p:nvPicPr>
          <p:cNvPr id="56" name="Google Shape;56;p1"/>
          <p:cNvPicPr preferRelativeResize="0"/>
          <p:nvPr/>
        </p:nvPicPr>
        <p:blipFill rotWithShape="1">
          <a:blip r:embed="rId3">
            <a:alphaModFix/>
          </a:blip>
          <a:srcRect b="0" l="0" r="0" t="0"/>
          <a:stretch/>
        </p:blipFill>
        <p:spPr>
          <a:xfrm>
            <a:off x="7220963" y="1855175"/>
            <a:ext cx="1433974" cy="1433974"/>
          </a:xfrm>
          <a:prstGeom prst="rect">
            <a:avLst/>
          </a:prstGeom>
          <a:noFill/>
          <a:ln>
            <a:noFill/>
          </a:ln>
        </p:spPr>
      </p:pic>
      <p:pic>
        <p:nvPicPr>
          <p:cNvPr id="57" name="Google Shape;57;p1"/>
          <p:cNvPicPr preferRelativeResize="0"/>
          <p:nvPr/>
        </p:nvPicPr>
        <p:blipFill rotWithShape="1">
          <a:blip r:embed="rId3">
            <a:alphaModFix/>
          </a:blip>
          <a:srcRect b="0" l="0" r="0" t="0"/>
          <a:stretch/>
        </p:blipFill>
        <p:spPr>
          <a:xfrm>
            <a:off x="2939925" y="1855175"/>
            <a:ext cx="1433974" cy="1433974"/>
          </a:xfrm>
          <a:prstGeom prst="rect">
            <a:avLst/>
          </a:prstGeom>
          <a:noFill/>
          <a:ln>
            <a:noFill/>
          </a:ln>
        </p:spPr>
      </p:pic>
      <p:sp>
        <p:nvSpPr>
          <p:cNvPr id="58" name="Google Shape;58;p1"/>
          <p:cNvSpPr txBox="1"/>
          <p:nvPr/>
        </p:nvSpPr>
        <p:spPr>
          <a:xfrm>
            <a:off x="3063076" y="4193200"/>
            <a:ext cx="3000000" cy="554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Helvetica Neue"/>
                <a:ea typeface="Helvetica Neue"/>
                <a:cs typeface="Helvetica Neue"/>
                <a:sym typeface="Helvetica Neue"/>
              </a:rPr>
              <a:t>Engr. </a:t>
            </a:r>
            <a:r>
              <a:rPr b="1" lang="en">
                <a:solidFill>
                  <a:schemeClr val="dk1"/>
                </a:solidFill>
                <a:latin typeface="Helvetica Neue"/>
                <a:ea typeface="Helvetica Neue"/>
                <a:cs typeface="Helvetica Neue"/>
                <a:sym typeface="Helvetica Neue"/>
              </a:rPr>
              <a:t>Jimlord Quejado</a:t>
            </a:r>
            <a:endParaRPr b="1" i="0" sz="1400" u="none" cap="none" strike="noStrike">
              <a:solidFill>
                <a:schemeClr val="dk1"/>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0000"/>
              </a:buClr>
              <a:buSzPts val="1000"/>
              <a:buFont typeface="Arial"/>
              <a:buNone/>
            </a:pPr>
            <a:r>
              <a:rPr b="0" i="1" lang="en" sz="1000" u="none" cap="none" strike="noStrike">
                <a:solidFill>
                  <a:schemeClr val="dk1"/>
                </a:solidFill>
                <a:latin typeface="Helvetica Neue"/>
                <a:ea typeface="Helvetica Neue"/>
                <a:cs typeface="Helvetica Neue"/>
                <a:sym typeface="Helvetica Neue"/>
              </a:rPr>
              <a:t>Adviser</a:t>
            </a:r>
            <a:endParaRPr b="0" i="0" sz="1400" u="none" cap="none" strike="noStrike">
              <a:solidFill>
                <a:srgbClr val="000000"/>
              </a:solidFill>
              <a:latin typeface="Arial"/>
              <a:ea typeface="Arial"/>
              <a:cs typeface="Arial"/>
              <a:sym typeface="Arial"/>
            </a:endParaRPr>
          </a:p>
        </p:txBody>
      </p:sp>
      <p:sp>
        <p:nvSpPr>
          <p:cNvPr id="59" name="Google Shape;59;p1"/>
          <p:cNvSpPr/>
          <p:nvPr/>
        </p:nvSpPr>
        <p:spPr>
          <a:xfrm>
            <a:off x="-261925" y="571500"/>
            <a:ext cx="9965400" cy="928800"/>
          </a:xfrm>
          <a:prstGeom prst="roundRect">
            <a:avLst>
              <a:gd fmla="val 0" name="adj"/>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lang="en" sz="3300">
                <a:solidFill>
                  <a:schemeClr val="dk1"/>
                </a:solidFill>
                <a:latin typeface="Arial Narrow"/>
                <a:ea typeface="Arial Narrow"/>
                <a:cs typeface="Arial Narrow"/>
                <a:sym typeface="Arial Narrow"/>
              </a:rPr>
              <a:t>Maintenance Request System (Group 1)</a:t>
            </a:r>
            <a:endParaRPr i="0" sz="3300" u="none" cap="none" strike="noStrike">
              <a:solidFill>
                <a:srgbClr val="000000"/>
              </a:solidFill>
              <a:latin typeface="Arial Narrow"/>
              <a:ea typeface="Arial Narrow"/>
              <a:cs typeface="Arial Narrow"/>
              <a:sym typeface="Arial Narrow"/>
            </a:endParaRPr>
          </a:p>
        </p:txBody>
      </p:sp>
      <p:pic>
        <p:nvPicPr>
          <p:cNvPr id="60" name="Google Shape;60;p1"/>
          <p:cNvPicPr preferRelativeResize="0"/>
          <p:nvPr/>
        </p:nvPicPr>
        <p:blipFill>
          <a:blip r:embed="rId4">
            <a:alphaModFix/>
          </a:blip>
          <a:stretch>
            <a:fillRect/>
          </a:stretch>
        </p:blipFill>
        <p:spPr>
          <a:xfrm>
            <a:off x="7256788" y="1855175"/>
            <a:ext cx="1362351" cy="1433974"/>
          </a:xfrm>
          <a:prstGeom prst="rect">
            <a:avLst/>
          </a:prstGeom>
          <a:noFill/>
          <a:ln>
            <a:noFill/>
          </a:ln>
        </p:spPr>
      </p:pic>
      <p:pic>
        <p:nvPicPr>
          <p:cNvPr id="61" name="Google Shape;61;p1"/>
          <p:cNvPicPr preferRelativeResize="0"/>
          <p:nvPr/>
        </p:nvPicPr>
        <p:blipFill rotWithShape="1">
          <a:blip r:embed="rId5">
            <a:alphaModFix/>
          </a:blip>
          <a:srcRect b="0" l="16562" r="0" t="20515"/>
          <a:stretch/>
        </p:blipFill>
        <p:spPr>
          <a:xfrm>
            <a:off x="2975737" y="1854763"/>
            <a:ext cx="1362350" cy="1433975"/>
          </a:xfrm>
          <a:prstGeom prst="rect">
            <a:avLst/>
          </a:prstGeom>
          <a:noFill/>
          <a:ln>
            <a:noFill/>
          </a:ln>
        </p:spPr>
      </p:pic>
      <p:pic>
        <p:nvPicPr>
          <p:cNvPr id="62" name="Google Shape;62;p1"/>
          <p:cNvPicPr preferRelativeResize="0"/>
          <p:nvPr/>
        </p:nvPicPr>
        <p:blipFill>
          <a:blip r:embed="rId6">
            <a:alphaModFix/>
          </a:blip>
          <a:stretch>
            <a:fillRect/>
          </a:stretch>
        </p:blipFill>
        <p:spPr>
          <a:xfrm>
            <a:off x="749587" y="1855175"/>
            <a:ext cx="1362350" cy="1433975"/>
          </a:xfrm>
          <a:prstGeom prst="rect">
            <a:avLst/>
          </a:prstGeom>
          <a:noFill/>
          <a:ln>
            <a:noFill/>
          </a:ln>
        </p:spPr>
      </p:pic>
      <p:pic>
        <p:nvPicPr>
          <p:cNvPr id="63" name="Google Shape;63;p1"/>
          <p:cNvPicPr preferRelativeResize="0"/>
          <p:nvPr/>
        </p:nvPicPr>
        <p:blipFill>
          <a:blip r:embed="rId7">
            <a:alphaModFix/>
          </a:blip>
          <a:stretch>
            <a:fillRect/>
          </a:stretch>
        </p:blipFill>
        <p:spPr>
          <a:xfrm>
            <a:off x="677951" y="1855175"/>
            <a:ext cx="1433975" cy="1433975"/>
          </a:xfrm>
          <a:prstGeom prst="rect">
            <a:avLst/>
          </a:prstGeom>
          <a:noFill/>
          <a:ln>
            <a:noFill/>
          </a:ln>
        </p:spPr>
      </p:pic>
      <p:pic>
        <p:nvPicPr>
          <p:cNvPr id="64" name="Google Shape;64;p1"/>
          <p:cNvPicPr preferRelativeResize="0"/>
          <p:nvPr/>
        </p:nvPicPr>
        <p:blipFill>
          <a:blip r:embed="rId8">
            <a:alphaModFix/>
          </a:blip>
          <a:stretch>
            <a:fillRect/>
          </a:stretch>
        </p:blipFill>
        <p:spPr>
          <a:xfrm>
            <a:off x="5102638" y="1928962"/>
            <a:ext cx="1353791" cy="13597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2"/>
          <p:cNvSpPr/>
          <p:nvPr/>
        </p:nvSpPr>
        <p:spPr>
          <a:xfrm>
            <a:off x="0" y="0"/>
            <a:ext cx="9144000" cy="6156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2"/>
          <p:cNvSpPr txBox="1"/>
          <p:nvPr>
            <p:ph type="title"/>
          </p:nvPr>
        </p:nvSpPr>
        <p:spPr>
          <a:xfrm>
            <a:off x="-75" y="21450"/>
            <a:ext cx="9144000" cy="5727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990"/>
              <a:buNone/>
            </a:pPr>
            <a:r>
              <a:rPr b="1" lang="en" sz="2520">
                <a:latin typeface="Helvetica Neue"/>
                <a:ea typeface="Helvetica Neue"/>
                <a:cs typeface="Helvetica Neue"/>
                <a:sym typeface="Helvetica Neue"/>
              </a:rPr>
              <a:t>INTRODUCTION</a:t>
            </a:r>
            <a:endParaRPr b="1" sz="2520">
              <a:latin typeface="Helvetica Neue"/>
              <a:ea typeface="Helvetica Neue"/>
              <a:cs typeface="Helvetica Neue"/>
              <a:sym typeface="Helvetica Neue"/>
            </a:endParaRPr>
          </a:p>
        </p:txBody>
      </p:sp>
      <p:sp>
        <p:nvSpPr>
          <p:cNvPr id="71" name="Google Shape;71;p2"/>
          <p:cNvSpPr txBox="1"/>
          <p:nvPr/>
        </p:nvSpPr>
        <p:spPr>
          <a:xfrm>
            <a:off x="4868350" y="254525"/>
            <a:ext cx="4146000" cy="7389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100"/>
              <a:buFont typeface="Arial"/>
              <a:buNone/>
            </a:pPr>
            <a:r>
              <a:t/>
            </a:r>
            <a:endParaRPr b="1" sz="2000">
              <a:solidFill>
                <a:srgbClr val="212121"/>
              </a:solidFill>
              <a:highlight>
                <a:srgbClr val="FFFFFF"/>
              </a:highlight>
              <a:latin typeface="Helvetica Neue"/>
              <a:ea typeface="Helvetica Neue"/>
              <a:cs typeface="Helvetica Neue"/>
              <a:sym typeface="Helvetica Neue"/>
            </a:endParaRPr>
          </a:p>
          <a:p>
            <a:pPr indent="0" lvl="0" marL="0" marR="0" rtl="0" algn="ctr">
              <a:lnSpc>
                <a:spcPct val="115000"/>
              </a:lnSpc>
              <a:spcBef>
                <a:spcPts val="0"/>
              </a:spcBef>
              <a:spcAft>
                <a:spcPts val="0"/>
              </a:spcAft>
              <a:buClr>
                <a:srgbClr val="000000"/>
              </a:buClr>
              <a:buSzPts val="1100"/>
              <a:buFont typeface="Arial"/>
              <a:buNone/>
            </a:pPr>
            <a:r>
              <a:t/>
            </a:r>
            <a:endParaRPr b="1" i="0" sz="2000" u="none" cap="none" strike="noStrike">
              <a:solidFill>
                <a:srgbClr val="212121"/>
              </a:solidFill>
              <a:latin typeface="Helvetica Neue"/>
              <a:ea typeface="Helvetica Neue"/>
              <a:cs typeface="Helvetica Neue"/>
              <a:sym typeface="Helvetica Neue"/>
            </a:endParaRPr>
          </a:p>
        </p:txBody>
      </p:sp>
      <p:sp>
        <p:nvSpPr>
          <p:cNvPr id="72" name="Google Shape;72;p2"/>
          <p:cNvSpPr txBox="1"/>
          <p:nvPr/>
        </p:nvSpPr>
        <p:spPr>
          <a:xfrm>
            <a:off x="0" y="1702825"/>
            <a:ext cx="61527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t/>
            </a:r>
            <a:endParaRPr/>
          </a:p>
        </p:txBody>
      </p:sp>
      <p:sp>
        <p:nvSpPr>
          <p:cNvPr id="73" name="Google Shape;73;p2"/>
          <p:cNvSpPr txBox="1"/>
          <p:nvPr/>
        </p:nvSpPr>
        <p:spPr>
          <a:xfrm>
            <a:off x="279250" y="1120800"/>
            <a:ext cx="8735100" cy="3441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600">
                <a:latin typeface="Arial Narrow"/>
                <a:ea typeface="Arial Narrow"/>
                <a:cs typeface="Arial Narrow"/>
                <a:sym typeface="Arial Narrow"/>
              </a:rPr>
              <a:t>School maintenance is important to keep students and staff safe and comfortable (National Center for Education Statistics, 2022; Martins et al., 2021). Many schools still use slow and unreliable methods like verbal or handwritten reports (EdTech Magazine, 2023; TandM Associates, 2024). This causes delays and lost requests.</a:t>
            </a:r>
            <a:endParaRPr b="1" sz="1600">
              <a:latin typeface="Arial Narrow"/>
              <a:ea typeface="Arial Narrow"/>
              <a:cs typeface="Arial Narrow"/>
              <a:sym typeface="Arial Narrow"/>
            </a:endParaRPr>
          </a:p>
          <a:p>
            <a:pPr indent="0" lvl="0" marL="0" rtl="0" algn="l">
              <a:lnSpc>
                <a:spcPct val="115000"/>
              </a:lnSpc>
              <a:spcBef>
                <a:spcPts val="1200"/>
              </a:spcBef>
              <a:spcAft>
                <a:spcPts val="0"/>
              </a:spcAft>
              <a:buNone/>
            </a:pPr>
            <a:r>
              <a:rPr b="1" lang="en" sz="1600">
                <a:latin typeface="Arial Narrow"/>
                <a:ea typeface="Arial Narrow"/>
                <a:cs typeface="Arial Narrow"/>
                <a:sym typeface="Arial Narrow"/>
              </a:rPr>
              <a:t>The School Maintenance Request System is a digital platform that lets users report and track issues easily. It stores data in one place for quick review by maintenance staff. This improves efficiency and stops repeated or forgotten requests.</a:t>
            </a:r>
            <a:endParaRPr b="1" sz="1600">
              <a:latin typeface="Arial Narrow"/>
              <a:ea typeface="Arial Narrow"/>
              <a:cs typeface="Arial Narrow"/>
              <a:sym typeface="Arial Narrow"/>
            </a:endParaRPr>
          </a:p>
          <a:p>
            <a:pPr indent="0" lvl="0" marL="0" rtl="0" algn="l">
              <a:lnSpc>
                <a:spcPct val="115000"/>
              </a:lnSpc>
              <a:spcBef>
                <a:spcPts val="1200"/>
              </a:spcBef>
              <a:spcAft>
                <a:spcPts val="0"/>
              </a:spcAft>
              <a:buNone/>
            </a:pPr>
            <a:r>
              <a:rPr b="1" lang="en" sz="1600">
                <a:latin typeface="Arial Narrow"/>
                <a:ea typeface="Arial Narrow"/>
                <a:cs typeface="Arial Narrow"/>
                <a:sym typeface="Arial Narrow"/>
              </a:rPr>
              <a:t>The system also reduces paper use, supporting eco-friendly practices (Xenia Team, 2023). It helps improve communication and responsibility.</a:t>
            </a:r>
            <a:endParaRPr b="1" sz="1600">
              <a:latin typeface="Arial Narrow"/>
              <a:ea typeface="Arial Narrow"/>
              <a:cs typeface="Arial Narrow"/>
              <a:sym typeface="Arial Narrow"/>
            </a:endParaRPr>
          </a:p>
          <a:p>
            <a:pPr indent="0" lvl="0" marL="0" rtl="0" algn="l">
              <a:lnSpc>
                <a:spcPct val="115000"/>
              </a:lnSpc>
              <a:spcBef>
                <a:spcPts val="1200"/>
              </a:spcBef>
              <a:spcAft>
                <a:spcPts val="1200"/>
              </a:spcAft>
              <a:buNone/>
            </a:pPr>
            <a:r>
              <a:t/>
            </a:r>
            <a:endParaRPr b="1" sz="1600">
              <a:latin typeface="Arial Narrow"/>
              <a:ea typeface="Arial Narrow"/>
              <a:cs typeface="Arial Narrow"/>
              <a:sym typeface="Arial Narrow"/>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g3547c1293c7_4_10"/>
          <p:cNvSpPr/>
          <p:nvPr/>
        </p:nvSpPr>
        <p:spPr>
          <a:xfrm>
            <a:off x="0" y="0"/>
            <a:ext cx="9128400" cy="615600"/>
          </a:xfrm>
          <a:prstGeom prst="rect">
            <a:avLst/>
          </a:prstGeom>
          <a:solidFill>
            <a:schemeClr val="accent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g3547c1293c7_4_10"/>
          <p:cNvSpPr txBox="1"/>
          <p:nvPr/>
        </p:nvSpPr>
        <p:spPr>
          <a:xfrm>
            <a:off x="311700" y="21450"/>
            <a:ext cx="8520600" cy="572700"/>
          </a:xfrm>
          <a:prstGeom prst="rect">
            <a:avLst/>
          </a:prstGeom>
          <a:solidFill>
            <a:schemeClr val="accent3"/>
          </a:solidFill>
          <a:ln>
            <a:noFill/>
          </a:ln>
        </p:spPr>
        <p:txBody>
          <a:bodyPr anchorCtr="0" anchor="t"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2520"/>
              <a:buFont typeface="Arial"/>
              <a:buNone/>
            </a:pPr>
            <a:r>
              <a:rPr b="1" lang="en" sz="2520">
                <a:solidFill>
                  <a:schemeClr val="dk1"/>
                </a:solidFill>
                <a:latin typeface="Helvetica Neue"/>
                <a:ea typeface="Helvetica Neue"/>
                <a:cs typeface="Helvetica Neue"/>
                <a:sym typeface="Helvetica Neue"/>
              </a:rPr>
              <a:t>The Problem</a:t>
            </a:r>
            <a:endParaRPr b="1" i="0" sz="2520" u="none" cap="none" strike="noStrike">
              <a:solidFill>
                <a:schemeClr val="dk1"/>
              </a:solidFill>
              <a:latin typeface="Helvetica Neue"/>
              <a:ea typeface="Helvetica Neue"/>
              <a:cs typeface="Helvetica Neue"/>
              <a:sym typeface="Helvetica Neue"/>
            </a:endParaRPr>
          </a:p>
        </p:txBody>
      </p:sp>
      <p:sp>
        <p:nvSpPr>
          <p:cNvPr id="80" name="Google Shape;80;g3547c1293c7_4_10"/>
          <p:cNvSpPr txBox="1"/>
          <p:nvPr/>
        </p:nvSpPr>
        <p:spPr>
          <a:xfrm>
            <a:off x="3756050" y="798388"/>
            <a:ext cx="22107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Helvetica Neue"/>
              <a:ea typeface="Helvetica Neue"/>
              <a:cs typeface="Helvetica Neue"/>
              <a:sym typeface="Helvetica Neue"/>
            </a:endParaRPr>
          </a:p>
        </p:txBody>
      </p:sp>
      <p:sp>
        <p:nvSpPr>
          <p:cNvPr id="81" name="Google Shape;81;g3547c1293c7_4_10"/>
          <p:cNvSpPr txBox="1"/>
          <p:nvPr/>
        </p:nvSpPr>
        <p:spPr>
          <a:xfrm>
            <a:off x="4531775" y="1350500"/>
            <a:ext cx="42591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Clr>
                <a:schemeClr val="dk1"/>
              </a:buClr>
              <a:buSzPts val="1100"/>
              <a:buFont typeface="Arial"/>
              <a:buNone/>
            </a:pPr>
            <a:r>
              <a:t/>
            </a:r>
            <a:endParaRPr sz="1100">
              <a:solidFill>
                <a:schemeClr val="dk1"/>
              </a:solidFill>
            </a:endParaRPr>
          </a:p>
        </p:txBody>
      </p:sp>
      <p:sp>
        <p:nvSpPr>
          <p:cNvPr id="82" name="Google Shape;82;g3547c1293c7_4_10"/>
          <p:cNvSpPr txBox="1"/>
          <p:nvPr/>
        </p:nvSpPr>
        <p:spPr>
          <a:xfrm>
            <a:off x="167275" y="798400"/>
            <a:ext cx="3882300" cy="298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latin typeface="Arial Narrow"/>
                <a:ea typeface="Arial Narrow"/>
                <a:cs typeface="Arial Narrow"/>
                <a:sym typeface="Arial Narrow"/>
              </a:rPr>
              <a:t>Many schools still rely on verbal reporting or handwritten notes to relay maintenance concerns, which often results in delays, lost information, and untracked requests. Because these methods lack proper documentation and organization, important issues are easily overlooked or resolved late. Without a centralized digital system, communication becomes unclear, accountability is limited, and maintenance tasks are difficult to monitor and prioritize, leading to slow responses and inefficient facility management.</a:t>
            </a:r>
            <a:endParaRPr>
              <a:latin typeface="Arial Narrow"/>
              <a:ea typeface="Arial Narrow"/>
              <a:cs typeface="Arial Narrow"/>
              <a:sym typeface="Arial Narrow"/>
            </a:endParaRPr>
          </a:p>
          <a:p>
            <a:pPr indent="0" lvl="0" marL="0" rtl="0" algn="l">
              <a:spcBef>
                <a:spcPts val="0"/>
              </a:spcBef>
              <a:spcAft>
                <a:spcPts val="0"/>
              </a:spcAft>
              <a:buNone/>
            </a:pPr>
            <a:r>
              <a:t/>
            </a:r>
            <a:endParaRPr>
              <a:latin typeface="Arial Narrow"/>
              <a:ea typeface="Arial Narrow"/>
              <a:cs typeface="Arial Narrow"/>
              <a:sym typeface="Arial Narrow"/>
            </a:endParaRPr>
          </a:p>
          <a:p>
            <a:pPr indent="0" lvl="0" marL="457200" rtl="0" algn="l">
              <a:spcBef>
                <a:spcPts val="0"/>
              </a:spcBef>
              <a:spcAft>
                <a:spcPts val="0"/>
              </a:spcAft>
              <a:buNone/>
            </a:pPr>
            <a:r>
              <a:t/>
            </a:r>
            <a:endParaRPr/>
          </a:p>
        </p:txBody>
      </p:sp>
      <p:pic>
        <p:nvPicPr>
          <p:cNvPr id="83" name="Google Shape;83;g3547c1293c7_4_10"/>
          <p:cNvPicPr preferRelativeResize="0"/>
          <p:nvPr/>
        </p:nvPicPr>
        <p:blipFill>
          <a:blip r:embed="rId3">
            <a:alphaModFix/>
          </a:blip>
          <a:stretch>
            <a:fillRect/>
          </a:stretch>
        </p:blipFill>
        <p:spPr>
          <a:xfrm>
            <a:off x="4612237" y="1350500"/>
            <a:ext cx="4098164" cy="3134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4"/>
          <p:cNvSpPr txBox="1"/>
          <p:nvPr>
            <p:ph idx="1" type="body"/>
          </p:nvPr>
        </p:nvSpPr>
        <p:spPr>
          <a:xfrm>
            <a:off x="342900" y="2286000"/>
            <a:ext cx="8458200" cy="26967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00000"/>
              </a:lnSpc>
              <a:spcBef>
                <a:spcPts val="0"/>
              </a:spcBef>
              <a:spcAft>
                <a:spcPts val="0"/>
              </a:spcAft>
              <a:buSzPct val="42038"/>
              <a:buNone/>
            </a:pPr>
            <a:r>
              <a:rPr b="1" lang="en" sz="4281">
                <a:solidFill>
                  <a:schemeClr val="dk1"/>
                </a:solidFill>
              </a:rPr>
              <a:t>The project aims to:</a:t>
            </a:r>
            <a:endParaRPr b="1" sz="4281">
              <a:solidFill>
                <a:schemeClr val="dk1"/>
              </a:solidFill>
            </a:endParaRPr>
          </a:p>
          <a:p>
            <a:pPr indent="-333648" lvl="0" marL="457200" rtl="0" algn="just">
              <a:lnSpc>
                <a:spcPct val="115000"/>
              </a:lnSpc>
              <a:spcBef>
                <a:spcPts val="1200"/>
              </a:spcBef>
              <a:spcAft>
                <a:spcPts val="0"/>
              </a:spcAft>
              <a:buClr>
                <a:schemeClr val="dk1"/>
              </a:buClr>
              <a:buSzPct val="100000"/>
              <a:buAutoNum type="arabicPeriod"/>
            </a:pPr>
            <a:r>
              <a:rPr lang="en" sz="6617">
                <a:solidFill>
                  <a:schemeClr val="dk1"/>
                </a:solidFill>
              </a:rPr>
              <a:t>To create a system that allows school personnel to submit maintenance requests easily and systematically</a:t>
            </a:r>
            <a:r>
              <a:rPr lang="en" sz="6617">
                <a:solidFill>
                  <a:schemeClr val="dk1"/>
                </a:solidFill>
              </a:rPr>
              <a:t>.</a:t>
            </a:r>
            <a:br>
              <a:rPr lang="en" sz="6617">
                <a:solidFill>
                  <a:schemeClr val="dk1"/>
                </a:solidFill>
              </a:rPr>
            </a:br>
            <a:endParaRPr sz="6617">
              <a:solidFill>
                <a:schemeClr val="dk1"/>
              </a:solidFill>
            </a:endParaRPr>
          </a:p>
          <a:p>
            <a:pPr indent="-333648" lvl="0" marL="457200" rtl="0" algn="just">
              <a:lnSpc>
                <a:spcPct val="115000"/>
              </a:lnSpc>
              <a:spcBef>
                <a:spcPts val="0"/>
              </a:spcBef>
              <a:spcAft>
                <a:spcPts val="0"/>
              </a:spcAft>
              <a:buClr>
                <a:schemeClr val="dk1"/>
              </a:buClr>
              <a:buSzPct val="100000"/>
              <a:buAutoNum type="arabicPeriod"/>
            </a:pPr>
            <a:r>
              <a:rPr lang="en" sz="6617">
                <a:solidFill>
                  <a:schemeClr val="dk1"/>
                </a:solidFill>
              </a:rPr>
              <a:t>To provide a platform where staff can monitor and review pending repair issues for timely resolution.</a:t>
            </a:r>
            <a:br>
              <a:rPr lang="en" sz="6617">
                <a:solidFill>
                  <a:schemeClr val="dk1"/>
                </a:solidFill>
              </a:rPr>
            </a:br>
            <a:endParaRPr sz="6617">
              <a:solidFill>
                <a:schemeClr val="dk1"/>
              </a:solidFill>
            </a:endParaRPr>
          </a:p>
          <a:p>
            <a:pPr indent="-333648" lvl="0" marL="457200" rtl="0" algn="just">
              <a:lnSpc>
                <a:spcPct val="115000"/>
              </a:lnSpc>
              <a:spcBef>
                <a:spcPts val="0"/>
              </a:spcBef>
              <a:spcAft>
                <a:spcPts val="0"/>
              </a:spcAft>
              <a:buClr>
                <a:schemeClr val="dk1"/>
              </a:buClr>
              <a:buSzPct val="100000"/>
              <a:buAutoNum type="arabicPeriod"/>
            </a:pPr>
            <a:r>
              <a:rPr lang="en" sz="6617">
                <a:solidFill>
                  <a:schemeClr val="dk1"/>
                </a:solidFill>
              </a:rPr>
              <a:t>To ensure that all maintenance data are properly stored and retrievable, improving accountability and record accuracy.</a:t>
            </a:r>
            <a:endParaRPr sz="6617">
              <a:solidFill>
                <a:schemeClr val="dk1"/>
              </a:solidFill>
            </a:endParaRPr>
          </a:p>
          <a:p>
            <a:pPr indent="0" lvl="0" marL="457200" rtl="0" algn="just">
              <a:lnSpc>
                <a:spcPct val="100000"/>
              </a:lnSpc>
              <a:spcBef>
                <a:spcPts val="1200"/>
              </a:spcBef>
              <a:spcAft>
                <a:spcPts val="0"/>
              </a:spcAft>
              <a:buNone/>
            </a:pPr>
            <a:r>
              <a:t/>
            </a:r>
            <a:endParaRPr sz="3194">
              <a:solidFill>
                <a:schemeClr val="dk1"/>
              </a:solidFill>
            </a:endParaRPr>
          </a:p>
        </p:txBody>
      </p:sp>
      <p:sp>
        <p:nvSpPr>
          <p:cNvPr id="89" name="Google Shape;89;p4"/>
          <p:cNvSpPr/>
          <p:nvPr/>
        </p:nvSpPr>
        <p:spPr>
          <a:xfrm>
            <a:off x="262350" y="1911888"/>
            <a:ext cx="8458200" cy="3741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Helvetica Neue"/>
                <a:ea typeface="Helvetica Neue"/>
                <a:cs typeface="Helvetica Neue"/>
                <a:sym typeface="Helvetica Neue"/>
              </a:rPr>
              <a:t>Project Objectives</a:t>
            </a:r>
            <a:endParaRPr b="0" i="0" sz="1400" u="none" cap="none" strike="noStrike">
              <a:solidFill>
                <a:srgbClr val="000000"/>
              </a:solidFill>
              <a:latin typeface="Arial"/>
              <a:ea typeface="Arial"/>
              <a:cs typeface="Arial"/>
              <a:sym typeface="Arial"/>
            </a:endParaRPr>
          </a:p>
        </p:txBody>
      </p:sp>
      <p:sp>
        <p:nvSpPr>
          <p:cNvPr id="90" name="Google Shape;90;p4"/>
          <p:cNvSpPr txBox="1"/>
          <p:nvPr/>
        </p:nvSpPr>
        <p:spPr>
          <a:xfrm flipH="1" rot="10800000">
            <a:off x="262350" y="784470"/>
            <a:ext cx="8619300" cy="665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100"/>
              <a:buFont typeface="Arial"/>
              <a:buNone/>
            </a:pPr>
            <a:r>
              <a:t/>
            </a:r>
            <a:endParaRPr b="1" i="0" sz="3100" u="none" cap="none" strike="noStrike">
              <a:solidFill>
                <a:schemeClr val="dk1"/>
              </a:solidFill>
              <a:latin typeface="Helvetica Neue"/>
              <a:ea typeface="Helvetica Neue"/>
              <a:cs typeface="Helvetica Neue"/>
              <a:sym typeface="Helvetica Neue"/>
            </a:endParaRPr>
          </a:p>
        </p:txBody>
      </p:sp>
      <p:sp>
        <p:nvSpPr>
          <p:cNvPr id="91" name="Google Shape;91;p4"/>
          <p:cNvSpPr txBox="1"/>
          <p:nvPr/>
        </p:nvSpPr>
        <p:spPr>
          <a:xfrm>
            <a:off x="262350" y="885425"/>
            <a:ext cx="9144000" cy="46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Maintenance Request System</a:t>
            </a:r>
            <a:endParaRPr b="1" sz="18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
          <p:cNvSpPr/>
          <p:nvPr/>
        </p:nvSpPr>
        <p:spPr>
          <a:xfrm>
            <a:off x="0" y="0"/>
            <a:ext cx="9128400" cy="6156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3"/>
          <p:cNvSpPr txBox="1"/>
          <p:nvPr>
            <p:ph type="title"/>
          </p:nvPr>
        </p:nvSpPr>
        <p:spPr>
          <a:xfrm>
            <a:off x="311700" y="21450"/>
            <a:ext cx="8520600" cy="572700"/>
          </a:xfrm>
          <a:prstGeom prst="rect">
            <a:avLst/>
          </a:prstGeom>
          <a:solidFill>
            <a:schemeClr val="accent3"/>
          </a:solid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990"/>
              <a:buNone/>
            </a:pPr>
            <a:r>
              <a:rPr b="1" lang="en" sz="2520">
                <a:latin typeface="Helvetica Neue"/>
                <a:ea typeface="Helvetica Neue"/>
                <a:cs typeface="Helvetica Neue"/>
                <a:sym typeface="Helvetica Neue"/>
              </a:rPr>
              <a:t>FLOWCHART AND PSEUDOCODE</a:t>
            </a:r>
            <a:endParaRPr b="1" sz="2520">
              <a:latin typeface="Helvetica Neue"/>
              <a:ea typeface="Helvetica Neue"/>
              <a:cs typeface="Helvetica Neue"/>
              <a:sym typeface="Helvetica Neue"/>
            </a:endParaRPr>
          </a:p>
        </p:txBody>
      </p:sp>
      <p:sp>
        <p:nvSpPr>
          <p:cNvPr id="98" name="Google Shape;98;p3"/>
          <p:cNvSpPr txBox="1"/>
          <p:nvPr/>
        </p:nvSpPr>
        <p:spPr>
          <a:xfrm>
            <a:off x="3756050" y="798388"/>
            <a:ext cx="2210700" cy="646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chemeClr val="accent2"/>
              </a:solidFill>
              <a:latin typeface="Helvetica Neue"/>
              <a:ea typeface="Helvetica Neue"/>
              <a:cs typeface="Helvetica Neue"/>
              <a:sym typeface="Helvetica Neue"/>
            </a:endParaRPr>
          </a:p>
        </p:txBody>
      </p:sp>
      <p:sp>
        <p:nvSpPr>
          <p:cNvPr id="99" name="Google Shape;99;p3"/>
          <p:cNvSpPr txBox="1"/>
          <p:nvPr/>
        </p:nvSpPr>
        <p:spPr>
          <a:xfrm>
            <a:off x="384825" y="4573750"/>
            <a:ext cx="3990300" cy="297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PSEUDOCODE</a:t>
            </a:r>
            <a:endParaRPr b="1" i="0" sz="1600" u="none" cap="none" strike="noStrike">
              <a:solidFill>
                <a:schemeClr val="dk1"/>
              </a:solidFill>
              <a:latin typeface="Arial"/>
              <a:ea typeface="Arial"/>
              <a:cs typeface="Arial"/>
              <a:sym typeface="Arial"/>
            </a:endParaRPr>
          </a:p>
        </p:txBody>
      </p:sp>
      <p:sp>
        <p:nvSpPr>
          <p:cNvPr id="100" name="Google Shape;100;p3"/>
          <p:cNvSpPr txBox="1"/>
          <p:nvPr/>
        </p:nvSpPr>
        <p:spPr>
          <a:xfrm>
            <a:off x="4770675" y="4573750"/>
            <a:ext cx="3990300" cy="297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FLOW CHART</a:t>
            </a:r>
            <a:endParaRPr b="1" i="0" sz="1600" u="none" cap="none" strike="noStrike">
              <a:solidFill>
                <a:schemeClr val="dk1"/>
              </a:solidFill>
              <a:latin typeface="Arial"/>
              <a:ea typeface="Arial"/>
              <a:cs typeface="Arial"/>
              <a:sym typeface="Arial"/>
            </a:endParaRPr>
          </a:p>
        </p:txBody>
      </p:sp>
      <p:pic>
        <p:nvPicPr>
          <p:cNvPr id="101" name="Google Shape;101;p3"/>
          <p:cNvPicPr preferRelativeResize="0"/>
          <p:nvPr/>
        </p:nvPicPr>
        <p:blipFill>
          <a:blip r:embed="rId3">
            <a:alphaModFix/>
          </a:blip>
          <a:stretch>
            <a:fillRect/>
          </a:stretch>
        </p:blipFill>
        <p:spPr>
          <a:xfrm>
            <a:off x="0" y="634850"/>
            <a:ext cx="1478250" cy="1936900"/>
          </a:xfrm>
          <a:prstGeom prst="rect">
            <a:avLst/>
          </a:prstGeom>
          <a:noFill/>
          <a:ln>
            <a:noFill/>
          </a:ln>
        </p:spPr>
      </p:pic>
      <p:pic>
        <p:nvPicPr>
          <p:cNvPr id="102" name="Google Shape;102;p3"/>
          <p:cNvPicPr preferRelativeResize="0"/>
          <p:nvPr/>
        </p:nvPicPr>
        <p:blipFill>
          <a:blip r:embed="rId4">
            <a:alphaModFix/>
          </a:blip>
          <a:stretch>
            <a:fillRect/>
          </a:stretch>
        </p:blipFill>
        <p:spPr>
          <a:xfrm>
            <a:off x="1478250" y="615600"/>
            <a:ext cx="1636324" cy="1936900"/>
          </a:xfrm>
          <a:prstGeom prst="rect">
            <a:avLst/>
          </a:prstGeom>
          <a:noFill/>
          <a:ln>
            <a:noFill/>
          </a:ln>
        </p:spPr>
      </p:pic>
      <p:pic>
        <p:nvPicPr>
          <p:cNvPr id="103" name="Google Shape;103;p3"/>
          <p:cNvPicPr preferRelativeResize="0"/>
          <p:nvPr/>
        </p:nvPicPr>
        <p:blipFill>
          <a:blip r:embed="rId5">
            <a:alphaModFix/>
          </a:blip>
          <a:stretch>
            <a:fillRect/>
          </a:stretch>
        </p:blipFill>
        <p:spPr>
          <a:xfrm>
            <a:off x="3091600" y="634850"/>
            <a:ext cx="1415278" cy="1906926"/>
          </a:xfrm>
          <a:prstGeom prst="rect">
            <a:avLst/>
          </a:prstGeom>
          <a:noFill/>
          <a:ln>
            <a:noFill/>
          </a:ln>
        </p:spPr>
      </p:pic>
      <p:pic>
        <p:nvPicPr>
          <p:cNvPr id="104" name="Google Shape;104;p3"/>
          <p:cNvPicPr preferRelativeResize="0"/>
          <p:nvPr/>
        </p:nvPicPr>
        <p:blipFill>
          <a:blip r:embed="rId6">
            <a:alphaModFix/>
          </a:blip>
          <a:stretch>
            <a:fillRect/>
          </a:stretch>
        </p:blipFill>
        <p:spPr>
          <a:xfrm>
            <a:off x="5663" y="2552500"/>
            <a:ext cx="1466932" cy="2021900"/>
          </a:xfrm>
          <a:prstGeom prst="rect">
            <a:avLst/>
          </a:prstGeom>
          <a:noFill/>
          <a:ln>
            <a:noFill/>
          </a:ln>
        </p:spPr>
      </p:pic>
      <p:pic>
        <p:nvPicPr>
          <p:cNvPr id="105" name="Google Shape;105;p3"/>
          <p:cNvPicPr preferRelativeResize="0"/>
          <p:nvPr/>
        </p:nvPicPr>
        <p:blipFill>
          <a:blip r:embed="rId7">
            <a:alphaModFix/>
          </a:blip>
          <a:stretch>
            <a:fillRect/>
          </a:stretch>
        </p:blipFill>
        <p:spPr>
          <a:xfrm>
            <a:off x="1524150" y="2552500"/>
            <a:ext cx="1567450" cy="2115901"/>
          </a:xfrm>
          <a:prstGeom prst="rect">
            <a:avLst/>
          </a:prstGeom>
          <a:noFill/>
          <a:ln>
            <a:noFill/>
          </a:ln>
        </p:spPr>
      </p:pic>
      <p:pic>
        <p:nvPicPr>
          <p:cNvPr id="106" name="Google Shape;106;p3"/>
          <p:cNvPicPr preferRelativeResize="0"/>
          <p:nvPr/>
        </p:nvPicPr>
        <p:blipFill>
          <a:blip r:embed="rId8">
            <a:alphaModFix/>
          </a:blip>
          <a:stretch>
            <a:fillRect/>
          </a:stretch>
        </p:blipFill>
        <p:spPr>
          <a:xfrm>
            <a:off x="3091600" y="2573949"/>
            <a:ext cx="1280063" cy="2021900"/>
          </a:xfrm>
          <a:prstGeom prst="rect">
            <a:avLst/>
          </a:prstGeom>
          <a:noFill/>
          <a:ln>
            <a:noFill/>
          </a:ln>
        </p:spPr>
      </p:pic>
      <p:pic>
        <p:nvPicPr>
          <p:cNvPr id="107" name="Google Shape;107;p3"/>
          <p:cNvPicPr preferRelativeResize="0"/>
          <p:nvPr/>
        </p:nvPicPr>
        <p:blipFill>
          <a:blip r:embed="rId9">
            <a:alphaModFix/>
          </a:blip>
          <a:stretch>
            <a:fillRect/>
          </a:stretch>
        </p:blipFill>
        <p:spPr>
          <a:xfrm>
            <a:off x="4375113" y="634850"/>
            <a:ext cx="1229550" cy="572700"/>
          </a:xfrm>
          <a:prstGeom prst="rect">
            <a:avLst/>
          </a:prstGeom>
          <a:noFill/>
          <a:ln>
            <a:noFill/>
          </a:ln>
        </p:spPr>
      </p:pic>
      <p:pic>
        <p:nvPicPr>
          <p:cNvPr id="108" name="Google Shape;108;p3"/>
          <p:cNvPicPr preferRelativeResize="0"/>
          <p:nvPr/>
        </p:nvPicPr>
        <p:blipFill>
          <a:blip r:embed="rId10">
            <a:alphaModFix/>
          </a:blip>
          <a:stretch>
            <a:fillRect/>
          </a:stretch>
        </p:blipFill>
        <p:spPr>
          <a:xfrm>
            <a:off x="5308595" y="799425"/>
            <a:ext cx="3081400" cy="3590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g3981e110b5c_0_5"/>
          <p:cNvSpPr/>
          <p:nvPr/>
        </p:nvSpPr>
        <p:spPr>
          <a:xfrm>
            <a:off x="0" y="0"/>
            <a:ext cx="9128400" cy="6156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g3981e110b5c_0_5"/>
          <p:cNvSpPr txBox="1"/>
          <p:nvPr>
            <p:ph type="title"/>
          </p:nvPr>
        </p:nvSpPr>
        <p:spPr>
          <a:xfrm>
            <a:off x="311700" y="21450"/>
            <a:ext cx="8520600" cy="572700"/>
          </a:xfrm>
          <a:prstGeom prst="rect">
            <a:avLst/>
          </a:prstGeom>
          <a:solidFill>
            <a:schemeClr val="accent3"/>
          </a:solid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990"/>
              <a:buNone/>
            </a:pPr>
            <a:r>
              <a:rPr b="1" lang="en" sz="2520">
                <a:latin typeface="Helvetica Neue"/>
                <a:ea typeface="Helvetica Neue"/>
                <a:cs typeface="Helvetica Neue"/>
                <a:sym typeface="Helvetica Neue"/>
              </a:rPr>
              <a:t>REFERENCES</a:t>
            </a:r>
            <a:endParaRPr b="1" sz="2520">
              <a:latin typeface="Helvetica Neue"/>
              <a:ea typeface="Helvetica Neue"/>
              <a:cs typeface="Helvetica Neue"/>
              <a:sym typeface="Helvetica Neue"/>
            </a:endParaRPr>
          </a:p>
        </p:txBody>
      </p:sp>
      <p:sp>
        <p:nvSpPr>
          <p:cNvPr id="115" name="Google Shape;115;g3981e110b5c_0_5"/>
          <p:cNvSpPr txBox="1"/>
          <p:nvPr/>
        </p:nvSpPr>
        <p:spPr>
          <a:xfrm>
            <a:off x="49800" y="662100"/>
            <a:ext cx="9028800" cy="4481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Arial Narrow"/>
                <a:ea typeface="Arial Narrow"/>
                <a:cs typeface="Arial Narrow"/>
                <a:sym typeface="Arial Narrow"/>
              </a:rPr>
              <a:t>Makmun, S., &amp; Marif, H. (2025). Innovative Approaches in the Management of Educational Facilities: Synergizing Digital Inventory and Preventive Maintenance. Educative: Jurnal Ilmiah Pendidikan, 3(2), 69–76. </a:t>
            </a:r>
            <a:endParaRPr b="1" sz="1200">
              <a:solidFill>
                <a:schemeClr val="dk1"/>
              </a:solidFill>
              <a:latin typeface="Arial Narrow"/>
              <a:ea typeface="Arial Narrow"/>
              <a:cs typeface="Arial Narrow"/>
              <a:sym typeface="Arial Narrow"/>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Arial Narrow"/>
                <a:ea typeface="Arial Narrow"/>
                <a:cs typeface="Arial Narrow"/>
                <a:sym typeface="Arial Narrow"/>
              </a:rPr>
              <a:t>publikasi.abidan.org</a:t>
            </a:r>
            <a:endParaRPr b="1" sz="1200">
              <a:solidFill>
                <a:schemeClr val="dk1"/>
              </a:solidFill>
              <a:latin typeface="Arial Narrow"/>
              <a:ea typeface="Arial Narrow"/>
              <a:cs typeface="Arial Narrow"/>
              <a:sym typeface="Arial Narrow"/>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latin typeface="Arial Narrow"/>
              <a:ea typeface="Arial Narrow"/>
              <a:cs typeface="Arial Narrow"/>
              <a:sym typeface="Arial Narrow"/>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Arial Narrow"/>
                <a:ea typeface="Arial Narrow"/>
                <a:cs typeface="Arial Narrow"/>
                <a:sym typeface="Arial Narrow"/>
              </a:rPr>
              <a:t>Martins, P., Lopes, S. I., Rosado da Cruz, A. M., &amp; Curado, A. (2021). Towards a Smart &amp; Sustainable Campus: An Application-Oriented Architecture to Streamline Digitization and Strengthen Sustainability in Academia. Sustainability, 13(6), 3189. </a:t>
            </a:r>
            <a:endParaRPr b="1" sz="1200">
              <a:solidFill>
                <a:schemeClr val="dk1"/>
              </a:solidFill>
              <a:latin typeface="Arial Narrow"/>
              <a:ea typeface="Arial Narrow"/>
              <a:cs typeface="Arial Narrow"/>
              <a:sym typeface="Arial Narrow"/>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Arial Narrow"/>
                <a:ea typeface="Arial Narrow"/>
                <a:cs typeface="Arial Narrow"/>
                <a:sym typeface="Arial Narrow"/>
              </a:rPr>
              <a:t>MDPI</a:t>
            </a:r>
            <a:endParaRPr b="1" sz="1200">
              <a:solidFill>
                <a:schemeClr val="dk1"/>
              </a:solidFill>
              <a:latin typeface="Arial Narrow"/>
              <a:ea typeface="Arial Narrow"/>
              <a:cs typeface="Arial Narrow"/>
              <a:sym typeface="Arial Narrow"/>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latin typeface="Arial Narrow"/>
              <a:ea typeface="Arial Narrow"/>
              <a:cs typeface="Arial Narrow"/>
              <a:sym typeface="Arial Narrow"/>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Arial Narrow"/>
                <a:ea typeface="Arial Narrow"/>
                <a:cs typeface="Arial Narrow"/>
                <a:sym typeface="Arial Narrow"/>
              </a:rPr>
              <a:t>Teguh Triwiyanto, Desi Eri Kusumaningrum, Ahmad Yusuf Sobri &amp; Warapark Maitreephun. (2024). Accountability management system of superior elementary school for digital transformation. Journal of Education and Learning (EduLearn), 18(4), 1514-1526. </a:t>
            </a:r>
            <a:endParaRPr b="1" sz="1200">
              <a:solidFill>
                <a:schemeClr val="dk1"/>
              </a:solidFill>
              <a:latin typeface="Arial Narrow"/>
              <a:ea typeface="Arial Narrow"/>
              <a:cs typeface="Arial Narrow"/>
              <a:sym typeface="Arial Narrow"/>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Arial Narrow"/>
                <a:ea typeface="Arial Narrow"/>
                <a:cs typeface="Arial Narrow"/>
                <a:sym typeface="Arial Narrow"/>
              </a:rPr>
              <a:t>ERIC</a:t>
            </a:r>
            <a:endParaRPr b="1" sz="1200">
              <a:solidFill>
                <a:schemeClr val="dk1"/>
              </a:solidFill>
              <a:latin typeface="Arial Narrow"/>
              <a:ea typeface="Arial Narrow"/>
              <a:cs typeface="Arial Narrow"/>
              <a:sym typeface="Arial Narrow"/>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Arial Narrow"/>
                <a:ea typeface="Arial Narrow"/>
                <a:cs typeface="Arial Narrow"/>
                <a:sym typeface="Arial Narrow"/>
              </a:rPr>
              <a:t>+1</a:t>
            </a:r>
            <a:endParaRPr b="1" sz="1200">
              <a:solidFill>
                <a:schemeClr val="dk1"/>
              </a:solidFill>
              <a:latin typeface="Arial Narrow"/>
              <a:ea typeface="Arial Narrow"/>
              <a:cs typeface="Arial Narrow"/>
              <a:sym typeface="Arial Narrow"/>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latin typeface="Arial Narrow"/>
              <a:ea typeface="Arial Narrow"/>
              <a:cs typeface="Arial Narrow"/>
              <a:sym typeface="Arial Narrow"/>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Arial Narrow"/>
                <a:ea typeface="Arial Narrow"/>
                <a:cs typeface="Arial Narrow"/>
                <a:sym typeface="Arial Narrow"/>
              </a:rPr>
              <a:t>Twana Abdullah Hussein &amp; Ahmet Oztas. (2020). Effect of Using Building Maintenance Information Management System in Maintenance Process in Ministry of Education. Kurdistan Journal of Applied Research. </a:t>
            </a:r>
            <a:endParaRPr b="1" sz="1200">
              <a:solidFill>
                <a:schemeClr val="dk1"/>
              </a:solidFill>
              <a:latin typeface="Arial Narrow"/>
              <a:ea typeface="Arial Narrow"/>
              <a:cs typeface="Arial Narrow"/>
              <a:sym typeface="Arial Narrow"/>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Arial Narrow"/>
                <a:ea typeface="Arial Narrow"/>
                <a:cs typeface="Arial Narrow"/>
                <a:sym typeface="Arial Narrow"/>
              </a:rPr>
              <a:t>spu.edu.iq</a:t>
            </a:r>
            <a:endParaRPr b="1" sz="1200">
              <a:solidFill>
                <a:schemeClr val="dk1"/>
              </a:solidFill>
              <a:latin typeface="Arial Narrow"/>
              <a:ea typeface="Arial Narrow"/>
              <a:cs typeface="Arial Narrow"/>
              <a:sym typeface="Arial Narrow"/>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latin typeface="Arial Narrow"/>
              <a:ea typeface="Arial Narrow"/>
              <a:cs typeface="Arial Narrow"/>
              <a:sym typeface="Arial Narrow"/>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Arial Narrow"/>
                <a:ea typeface="Arial Narrow"/>
                <a:cs typeface="Arial Narrow"/>
                <a:sym typeface="Arial Narrow"/>
              </a:rPr>
              <a:t>[Sommer 2024] Sommer, R. Effective facility and grounds maintenance solutions for public schools with CMMS. ClickMaint, 2024. </a:t>
            </a:r>
            <a:endParaRPr b="1" sz="1200">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b="1" sz="1250">
              <a:solidFill>
                <a:schemeClr val="lt1"/>
              </a:solidFill>
              <a:highlight>
                <a:schemeClr val="dk2"/>
              </a:highlight>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